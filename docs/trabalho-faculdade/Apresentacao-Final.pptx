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2011680"/>
            <a:ext cx="6400800" cy="6400800"/>
          </a:xfrm>
          <a:prstGeom prst="ellipse">
            <a:avLst/>
          </a:prstGeom>
          <a:solidFill>
            <a:srgbClr val="11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E1B0"/>
                </a:solidFill>
                <a:latin typeface="Segoe UI"/>
              </a:rPr>
              <a:t>TRABALHO FINAL  ·  TESTE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0" b="1">
                <a:solidFill>
                  <a:srgbClr val="F5F6F7"/>
                </a:solidFill>
                <a:latin typeface="Segoe UI"/>
              </a:rPr>
              <a:t>Vion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64992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9AA0A6"/>
                </a:solidFill>
                <a:latin typeface="Segoe UI"/>
              </a:rPr>
              <a:t>Plano de testes de uma plataforma de preparação para o ENEM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041648"/>
            <a:ext cx="2926080" cy="27432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70832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Grupo Trab_Final_3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Bianca Silva Vaz · Gabriel Gomes Giani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Lucas Fernandes Fortuna Lourenço · Lucas de Oliveira Faustino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Paulo Henrique Barreto da Rocha Dantas</a:t>
            </a:r>
          </a:p>
        </p:txBody>
      </p:sp>
      <p:pic>
        <p:nvPicPr>
          <p:cNvPr id="9" name="Picture 8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051560"/>
            <a:ext cx="219390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O que vamos mostrar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33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O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809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O que é o Vion e como ele foi construído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48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33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809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Documento de visão e histórias em BDD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48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33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Plano de teste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809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Objetivo, escopo, ferramentas e estratégia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94759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0799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Casos de teste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55463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51 casos descritos em três níveis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794759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0799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Execução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855463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Resultados, cobertura e evidências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794759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5CE1B0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50799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Conclusão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855463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O que aprendemos e o que ficou para depois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O que é o Vion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Tema escolhido: Educação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5F6F7"/>
                </a:solidFill>
                <a:latin typeface="Segoe UI"/>
              </a:rPr>
              <a:t>Uma aplicação web que reúne num só lugar as atividades que o estudante de ENEM normalmente espalha entre vários aplicativos.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11780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43200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Teoria organizada por Área, Disciplina e Tópico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19582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127248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Flashcards com repetição espaçada (SM-2)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579876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511296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Questões e simulados no formato da prova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63924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895344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Redação com correção automática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347972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4279392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Planejador semanal que se ajusta à data do ENEM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732020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4663440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5F6F7"/>
                </a:solidFill>
                <a:latin typeface="Segoe UI"/>
              </a:rPr>
              <a:t>XP, níveis, streak, conquistas e ranking mensal</a:t>
            </a:r>
          </a:p>
        </p:txBody>
      </p:sp>
      <p:pic>
        <p:nvPicPr>
          <p:cNvPr id="19" name="Picture 18" descr="04-estu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2278282" cy="4937760"/>
          </a:xfrm>
          <a:prstGeom prst="rect">
            <a:avLst/>
          </a:prstGeom>
        </p:spPr>
      </p:pic>
      <p:pic>
        <p:nvPicPr>
          <p:cNvPr id="20" name="Picture 19" descr="05-flash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227828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O sistema cumpre os requisitos obrigatórios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911096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8013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Tela de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75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/login e /register, com recuperação de senha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32888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752344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264261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CRUD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169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Redação: criar, listar, editar e excluir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74136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593592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34838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Interface de usuário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581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Frontend web em Next.js e 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15384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" y="4434840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43251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Backend com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599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Route Handlers e Server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56632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5276088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5166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Banco de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440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PostgreSQL acessado via Prisma</a:t>
            </a:r>
          </a:p>
        </p:txBody>
      </p:sp>
      <p:pic>
        <p:nvPicPr>
          <p:cNvPr id="25" name="Picture 2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2236092" cy="4846320"/>
          </a:xfrm>
          <a:prstGeom prst="rect">
            <a:avLst/>
          </a:prstGeom>
        </p:spPr>
      </p:pic>
      <p:pic>
        <p:nvPicPr>
          <p:cNvPr id="26" name="Picture 25" descr="07-red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463040"/>
            <a:ext cx="2236092" cy="4846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Login e o CRUD de redações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Aplicação full-stack em Next.js 16, com backend no mesmo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6766560" cy="7315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01952"/>
            <a:ext cx="64008" cy="493776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019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385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Next.js 16 · React 19 · Tailwind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6766560" cy="7315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770632"/>
            <a:ext cx="64008" cy="493776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7706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0720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Route Handlers · Server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6766560" cy="7315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64008" cy="493776"/>
          </a:xfrm>
          <a:prstGeom prst="rect">
            <a:avLst/>
          </a:prstGeom>
          <a:solidFill>
            <a:srgbClr val="8B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6393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Autenticação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7588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NextAuth 5 · JWT · bcrypt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19"/>
            <a:ext cx="6766560" cy="7315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507991"/>
            <a:ext cx="64008" cy="493776"/>
          </a:xfrm>
          <a:prstGeom prst="rect">
            <a:avLst/>
          </a:prstGeom>
          <a:solidFill>
            <a:srgbClr val="8B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50799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544567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Zod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57800"/>
            <a:ext cx="6766560" cy="7315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376672"/>
            <a:ext cx="64008" cy="493776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3766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Banco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132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Prisma 6 · PostgreSQL (Neon)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783080"/>
            <a:ext cx="3383280" cy="27889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E1B0"/>
                </a:solidFill>
                <a:latin typeface="Segoe UI"/>
              </a:rPr>
              <a:t>Cerca de 30 modelos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2316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User · UserProfile · Area · Discipline · Topic · Flashcard · FlashcardReview · Question · UserQuestion · UserSimulado · Essay · StudyPlan · Achievement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Documento de 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Item 4.1 do roteiro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Quem estuda para o ENEM espalha a rotina entre vários aplicativos e caderno, e acaba sem enxergar o próprio progresso nem saber onde está errando.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PARA QUEM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Estudantes do ensino médio e vestibulandos que prestam o ENEM, com atenção especial a quem mira cursos concorridos da área de saúde.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O QUE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Uma plataforma web que reúne teoria, questões, flashcards, simulados, redação e planejamento, tudo ligado a um histórico de desempenho.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DIFERENCIAL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3484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Cada atividade concluída realimenta o sistema: gera XP, mantém a sequência de estudo, alimenta o ranking e ajusta o plano conforme a data da prova se aproxima.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Requisitos em histórias de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Cada história vira critério de aceitação e, daí, caso de teste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3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HISTÓRIA DE USUÁRIO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F5F6F7"/>
                </a:solidFill>
                <a:latin typeface="Segoe UI"/>
              </a:rPr>
              <a:t>Como estudante,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F5F6F7"/>
                </a:solidFill>
                <a:latin typeface="Segoe UI"/>
              </a:rPr>
              <a:t>quero registrar minha atividade diária,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F5F6F7"/>
                </a:solidFill>
                <a:latin typeface="Segoe UI"/>
              </a:rPr>
              <a:t>para acompanhar minha sequência de estudos.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13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CRITÉRIOS DE ACEITAÇÃO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38454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31596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Estudar hoje mantém a sequência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75030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468172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Estudar ontem ainda mantém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11606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504748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Um dia inteiro sem estudar zera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548182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541324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Ler teoria não conta, só prática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901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8B7FD1"/>
                </a:solidFill>
                <a:latin typeface="Segoe UI"/>
              </a:rPr>
              <a:t>CENÁRIO EM BDD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Cenário: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5F6F7"/>
                </a:solidFill>
                <a:latin typeface="Segoe UI"/>
              </a:rPr>
              <a:t>sequência se mantém quando estudou ontem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443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Dado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94436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minha sequência é de 7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112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E 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51129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minha última atividade foi ontem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782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Quando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7822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o sistema calcula a sequência efetiva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451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Então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645152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CE1B0"/>
                </a:solidFill>
                <a:latin typeface="Segoe UI"/>
              </a:rPr>
              <a:t>o valor apresentado deve ser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5349240"/>
            <a:ext cx="4572000" cy="18288"/>
          </a:xfrm>
          <a:prstGeom prst="rect">
            <a:avLst/>
          </a:prstGeom>
          <a:solidFill>
            <a:srgbClr val="2A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486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Este cenário virou o caso de teste CTU-06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Objetivo dos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Cobrir os pontos de maior risco, não perseguir 100% de cobertura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212848"/>
            <a:ext cx="475488" cy="475488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D0F12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529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Regras de gamificação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e estudo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7033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Nível, streak, trilha e agendamento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de flashcards. É onde está 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lógica mais complexa.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659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67912" y="2212848"/>
            <a:ext cx="475488" cy="475488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D0F12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8529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Autenticação 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37033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Porta de entrada do sistema, com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regras de segurança como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senha forte.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659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2212848"/>
            <a:ext cx="475488" cy="475488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D0F12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8529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CRUD pela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033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Ciclo completo da Redação,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conferindo se cada operação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respeita o dono do recurso.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9659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45751" y="2212848"/>
            <a:ext cx="475488" cy="475488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D0F12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1" y="28529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Fluxos ponta a ponta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1" y="37033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O caminho real do usuário: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cadastrar, entrar, navegar 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concluir uma atividade.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Escopo dos testes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5CE1B0"/>
                </a:solidFill>
                <a:latin typeface="Segoe UI"/>
              </a:rPr>
              <a:t>SERÁ TESTADO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446020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377440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Cálculo de nível por XP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775204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706624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Sequência de dias estudados (streak)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10438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303580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Escolha da trilha pela data da prova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433572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3364992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Agendamento dos flashcards (SM-2)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762756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3694176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Validação de cadastro e login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091939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4023359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Cadastro, login e recuperação de senha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421124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5024" y="4352544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Endpoint de perfil e controle de acesso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4750308"/>
            <a:ext cx="91440" cy="9144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35024" y="4681728"/>
            <a:ext cx="4425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CRUD de Redação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4983480" cy="4206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87451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9AA0A6"/>
                </a:solidFill>
                <a:latin typeface="Segoe UI"/>
              </a:rPr>
              <a:t>NÃO SERÁ TESTADO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446020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2377440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Integrações com IA (não determinísticas)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775204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2864" y="2706624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Envio real de e-mail (será mockado)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104388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3035808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Tema, animações e paleta de cores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3433572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3364992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Vários navegadores e tamanhos de tela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3762756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3694176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Desempenho, carga e segurança ofensiva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4091939"/>
            <a:ext cx="91440" cy="91440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12864" y="4023359"/>
            <a:ext cx="42428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5F6F7"/>
                </a:solidFill>
                <a:latin typeface="Segoe UI"/>
              </a:rPr>
              <a:t>Analytics e Ranking em profundidade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Ferramentas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Escolhidas pelo que o roteiro recomenda e pelo que o projeto já usa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5CE1B0"/>
                </a:solidFill>
                <a:latin typeface="Segoe UI"/>
              </a:rPr>
              <a:t>Vitest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5F6F7"/>
                </a:solidFill>
                <a:latin typeface="Segoe UI"/>
              </a:rPr>
              <a:t>Testes unitários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Já configurado no projeto.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API parecida com Jest 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entende TypeScript nativo.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5CE1B0"/>
                </a:solidFill>
                <a:latin typeface="Segoe UI"/>
              </a:rPr>
              <a:t>Supertest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334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5F6F7"/>
                </a:solidFill>
                <a:latin typeface="Segoe UI"/>
              </a:rPr>
              <a:t>Testes de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Cobre os endpoints REST,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com o Prisma substituído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por mock.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5CE1B0"/>
                </a:solidFill>
                <a:latin typeface="Segoe UI"/>
              </a:rPr>
              <a:t>Playwright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334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5F6F7"/>
                </a:solidFill>
                <a:latin typeface="Segoe UI"/>
              </a:rPr>
              <a:t>Testes E2E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Roda em navegador real 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grava print, vídeo e trace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de cada falha.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920240"/>
            <a:ext cx="2606040" cy="28803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5CE1B0"/>
                </a:solidFill>
                <a:latin typeface="Segoe UI"/>
              </a:rPr>
              <a:t>Cobertura V8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6334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5F6F7"/>
                </a:solidFill>
                <a:latin typeface="Segoe UI"/>
              </a:rPr>
              <a:t>Relatórios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Já integrado ao Vitest.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Gera relatório em texto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e em HTML.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O projeto já tinha o Vitest rodando, com testes das regras de negócio da pasta src/lib.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Estratégia de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Três níveis, do mais isolado ao mais próximo do usuário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783080"/>
            <a:ext cx="4572000" cy="98755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965960"/>
            <a:ext cx="64008" cy="621792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9476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F5F6F7"/>
                </a:solidFill>
                <a:latin typeface="Segoe UI"/>
              </a:rPr>
              <a:t>E2E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3134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10 casos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2082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Fluxos completos pela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953512"/>
            <a:ext cx="6126480" cy="98755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200" y="3136392"/>
            <a:ext cx="64008" cy="621792"/>
          </a:xfrm>
          <a:prstGeom prst="rect">
            <a:avLst/>
          </a:prstGeom>
          <a:solidFill>
            <a:srgbClr val="8B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1181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F5F6F7"/>
                </a:solidFill>
                <a:latin typeface="Segoe U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838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7FD1"/>
                </a:solidFill>
                <a:latin typeface="Segoe UI"/>
              </a:rPr>
              <a:t>20 casos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912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Server Actions e Route Handlers,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com o Prisma mockado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23944"/>
            <a:ext cx="7680960" cy="98755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306824"/>
            <a:ext cx="64008" cy="621792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885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F5F6F7"/>
                </a:solidFill>
                <a:latin typeface="Segoe UI"/>
              </a:rPr>
              <a:t>Unitários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5429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21 casos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616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Funções puras de src/lib,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sem banco e sem rede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783080"/>
            <a:ext cx="2651760" cy="333756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E1B0"/>
                </a:solidFill>
                <a:latin typeface="Segoe UI"/>
              </a:rPr>
              <a:t>Técnicas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46888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Caixa-preta a partir dos requisitos.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Partição de equivalência e análise de valor limite.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Caixa-branca como apoio, guiada pelo relatório de cobertura.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5F6F7"/>
                </a:solidFill>
                <a:latin typeface="Segoe UI"/>
              </a:rPr>
              <a:t>51 casos de teste planejados no total.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Como cada caso foi descrito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Formato exigido pelo roteiro, aplicado nos 51 casos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577840" cy="4206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5CE1B0"/>
                </a:solidFill>
                <a:latin typeface="Segoe UI"/>
              </a:rPr>
              <a:t>CTU-02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Fronteira de subida de nível entre 499 e 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88036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Verificar o valor limite na virada do nível 1 para o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364992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Chamar calcLevel(499) e depois calcLevel(500).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962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Entrada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849624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499 e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3425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Saída esperada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334256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calcLevel(499) = 1 e calcLevel(500)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188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Critério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818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Os dois retornos conferem.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CE1B0"/>
                </a:solidFill>
                <a:latin typeface="Segoe UI"/>
              </a:rPr>
              <a:t>Prioridade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3035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Alta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691640"/>
            <a:ext cx="4617720" cy="4206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920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REGRA TESTADA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395728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5F6F7"/>
                </a:solidFill>
                <a:latin typeface="Segoe UI"/>
              </a:rPr>
              <a:t>nível = parte inteira de (XP ÷ 500) + 1,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5F6F7"/>
                </a:solidFill>
                <a:latin typeface="Segoe UI"/>
              </a:rPr>
              <a:t>limitado ao máximo de 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POR QUE ESSE 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886200"/>
            <a:ext cx="4160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9AA0A6"/>
                </a:solidFill>
                <a:latin typeface="Segoe UI"/>
              </a:rPr>
              <a:t>499 e 500 são os valores de fronteira: é exatamente ali que o resultado muda. Testar no meio da faixa (por exemplo 250) não revelaria um erro de "maior que" no lugar de "maior ou igual".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Execução dos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Unitários e de API rodando no Vitest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6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5CE1B0"/>
                </a:solidFill>
                <a:latin typeface="Segoe UI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testes passando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56816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5CE1B0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arquivos de teste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7373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956816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5CE1B0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falhas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7373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95681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F0C878"/>
                </a:solidFill>
                <a:latin typeface="Segoe UI"/>
              </a:rPr>
              <a:t>2,18s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duração total</a:t>
            </a:r>
          </a:p>
        </p:txBody>
      </p:sp>
      <p:pic>
        <p:nvPicPr>
          <p:cNvPr id="18" name="Picture 17" descr="ev-01-te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5943600" cy="3386287"/>
          </a:xfrm>
          <a:prstGeom prst="rect">
            <a:avLst/>
          </a:prstGeom>
        </p:spPr>
      </p:pic>
      <p:pic>
        <p:nvPicPr>
          <p:cNvPr id="19" name="Picture 18" descr="ev-03-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383280"/>
            <a:ext cx="4434840" cy="2526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5379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Saída de npm run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653796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Detalhe caso a caso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Cobertura de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Relatório gerado pelo V8, integrado ao Vitest</a:t>
            </a:r>
          </a:p>
        </p:txBody>
      </p:sp>
      <p:pic>
        <p:nvPicPr>
          <p:cNvPr id="6" name="Picture 5" descr="ev-02-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400800" cy="41015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91640"/>
            <a:ext cx="3794760" cy="19202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E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920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ONDE JÁ HÁ TESTES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591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sm2.ts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3591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743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trail.ts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743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27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5F6F7"/>
                </a:solidFill>
                <a:latin typeface="Segoe UI"/>
              </a:rPr>
              <a:t>achievements.ts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127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CE1B0"/>
                </a:solidFill>
                <a:latin typeface="Segoe UI"/>
              </a:rPr>
              <a:t>94%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794760"/>
            <a:ext cx="3794760" cy="210312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0C878"/>
                </a:solidFill>
                <a:latin typeface="Segoe UI"/>
              </a:rPr>
              <a:t>LEITURA DO NÚMERO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43484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A cobertura geral de 22% inclui arquivos que nem entram no escopo, como conexão com o banco e clientes de IA. Nas funções de regra de negócio que já têm teste, ela passa de 94%.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Testes ponta a ponta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Navegador de verdade, sem nada mockado</a:t>
            </a:r>
          </a:p>
        </p:txBody>
      </p:sp>
      <p:pic>
        <p:nvPicPr>
          <p:cNvPr id="6" name="Picture 5" descr="ev-04-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035040" cy="36527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691640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O QUE OS 12 TESTES COBREM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2395728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2331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5F6F7"/>
                </a:solidFill>
                <a:latin typeface="Segoe UI"/>
              </a:rPr>
              <a:t>Cadastro e regras de senha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88336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7536" y="26243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5F6F7"/>
                </a:solidFill>
                <a:latin typeface="Segoe UI"/>
              </a:rPr>
              <a:t>Login certo e login errado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2980944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9169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5F6F7"/>
                </a:solidFill>
                <a:latin typeface="Segoe UI"/>
              </a:rPr>
              <a:t>Rota protegida sem sessão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3273552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32095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5F6F7"/>
                </a:solidFill>
                <a:latin typeface="Segoe UI"/>
              </a:rPr>
              <a:t>Navegação pelo conteúdo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35021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5F6F7"/>
                </a:solidFill>
                <a:latin typeface="Segoe UI"/>
              </a:rPr>
              <a:t>CRUD de Redação pela tela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02336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251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0C878"/>
                </a:solidFill>
                <a:latin typeface="Segoe UI"/>
              </a:rPr>
              <a:t>EVIDÊNCIA AUTOMÁTICA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66344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Quando um teste falha, o Playwright salva print, vídeo e trace da sessão. Foi assim que descobrimos que o redirecionamento de login apontava para uma porta fixa.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26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Os 4 testes de controle de acesso rodam sem banco: o middleware bloqueia antes de qualquer consulta.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Defeito encontrado durante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Um bug real, achado ao preparar o ambiente de testes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5A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08282"/>
                </a:solidFill>
                <a:latin typeface="Segoe UI"/>
              </a:rPr>
              <a:t>SINTOMA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F5F6F7"/>
                </a:solidFill>
                <a:latin typeface="Segoe UI"/>
              </a:rPr>
              <a:t>O build de produção falhava por completo, com a mensagem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F5F6F7"/>
                </a:solidFill>
                <a:latin typeface="Segoe UI"/>
              </a:rPr>
              <a:t>"Missing credentials", mesmo sem ninguém usar o Mentor.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08282"/>
                </a:solidFill>
                <a:latin typeface="Segoe UI"/>
              </a:rPr>
              <a:t>CAUSA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5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O cliente de IA era criado no momento em que o módulo era importado. Como o SDK valida a chave já no construtor, qualquer import do módulo quebrava quando a variável de ambiente não estava disponível, o que acontece na fase de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E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CORREÇÃO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F5F6F7"/>
                </a:solidFill>
                <a:latin typeface="Segoe UI"/>
              </a:rPr>
              <a:t>Passamos a criar o cliente só na primeira vez que ele é usado de verdade, e não no import.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LIÇÃO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4709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Efeito colateral em import é armadilha: o código só quebra em um ambiente específico, e não no computador de quem programou. Testar o build num ambiente limpo revelou o que o desenvolvimento local escondia.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Divisão do trabalho no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828800"/>
            <a:ext cx="8138160" cy="67665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40280" y="2029968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920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Lucas Fernandes Fortuna Lourenço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Coordenação dos testes e relatório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633472"/>
            <a:ext cx="8138160" cy="67665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0280" y="2834640"/>
            <a:ext cx="274320" cy="274320"/>
          </a:xfrm>
          <a:prstGeom prst="ellipse">
            <a:avLst/>
          </a:prstGeom>
          <a:solidFill>
            <a:srgbClr val="8B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7249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Lucas de Oliveira Faustino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999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Testes unitários e acompanhamento da cobertura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438144"/>
            <a:ext cx="8138160" cy="67665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3639312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52958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Gabriel Gomes Giani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039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Testes de API e configuração dos mocks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242816"/>
            <a:ext cx="8138160" cy="67665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40280" y="4443984"/>
            <a:ext cx="274320" cy="274320"/>
          </a:xfrm>
          <a:prstGeom prst="ellipse">
            <a:avLst/>
          </a:prstGeom>
          <a:solidFill>
            <a:srgbClr val="8B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433425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Bianca Silva Vaz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60857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Testes E2E e coleta de evidências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047488"/>
            <a:ext cx="8138160" cy="67665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40280" y="5248656"/>
            <a:ext cx="274320" cy="274320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51389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Paulo Henrique Barreto da Rocha Dantas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4132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9AA0A6"/>
                </a:solidFill>
                <a:latin typeface="Segoe UI"/>
              </a:rPr>
              <a:t>Ambiente de testes e integração contínua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9436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Todos participam da escrita dos casos e da análise dos resultados.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Status da implementação dos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O que já roda e o que ainda falta escrever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7451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F5F6F7"/>
                </a:solidFill>
                <a:latin typeface="Segoe UI"/>
              </a:rPr>
              <a:t>Unitários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20240"/>
            <a:ext cx="868680" cy="292608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0F12"/>
                </a:solidFill>
                <a:latin typeface="Segoe UI"/>
              </a:rPr>
              <a:t>PRONTO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04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Vitest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06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E1B0"/>
                </a:solidFill>
                <a:latin typeface="Segoe UI"/>
              </a:rPr>
              <a:t>34 testes</a:t>
            </a:r>
          </a:p>
        </p:txBody>
      </p:sp>
      <p:sp>
        <p:nvSpPr>
          <p:cNvPr id="11" name="Oval 10"/>
          <p:cNvSpPr/>
          <p:nvPr/>
        </p:nvSpPr>
        <p:spPr>
          <a:xfrm>
            <a:off x="1133856" y="3191256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31272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calcLevel, effectiveStreak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" y="3520440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45643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detectTrail, getTrailConfig</a:t>
            </a:r>
          </a:p>
        </p:txBody>
      </p:sp>
      <p:sp>
        <p:nvSpPr>
          <p:cNvPr id="15" name="Oval 14"/>
          <p:cNvSpPr/>
          <p:nvPr/>
        </p:nvSpPr>
        <p:spPr>
          <a:xfrm>
            <a:off x="1133856" y="3849624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78561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sm2 (agendamento)</a:t>
            </a:r>
          </a:p>
        </p:txBody>
      </p:sp>
      <p:sp>
        <p:nvSpPr>
          <p:cNvPr id="17" name="Oval 16"/>
          <p:cNvSpPr/>
          <p:nvPr/>
        </p:nvSpPr>
        <p:spPr>
          <a:xfrm>
            <a:off x="1133856" y="4178808"/>
            <a:ext cx="82296" cy="822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1148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checkAchievements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61772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A suíte roda em 1,85s e passa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inteira. São 34 testes, porque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alguns casos do plano viraram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mais de um teste no código.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16459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187451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F5F6F7"/>
                </a:solidFill>
                <a:latin typeface="Segoe UI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920240"/>
            <a:ext cx="868680" cy="292608"/>
          </a:xfrm>
          <a:prstGeom prst="roundRect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0F12"/>
                </a:solidFill>
                <a:latin typeface="Segoe UI"/>
              </a:rPr>
              <a:t>A FAZER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304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Supertest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606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0C878"/>
                </a:solidFill>
                <a:latin typeface="Segoe UI"/>
              </a:rPr>
              <a:t>0 de 20 casos</a:t>
            </a:r>
          </a:p>
        </p:txBody>
      </p:sp>
      <p:sp>
        <p:nvSpPr>
          <p:cNvPr id="25" name="Oval 24"/>
          <p:cNvSpPr/>
          <p:nvPr/>
        </p:nvSpPr>
        <p:spPr>
          <a:xfrm>
            <a:off x="4837176" y="3191256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2" y="31272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Mock do Prisma Client</a:t>
            </a:r>
          </a:p>
        </p:txBody>
      </p:sp>
      <p:sp>
        <p:nvSpPr>
          <p:cNvPr id="27" name="Oval 26"/>
          <p:cNvSpPr/>
          <p:nvPr/>
        </p:nvSpPr>
        <p:spPr>
          <a:xfrm>
            <a:off x="4837176" y="3520440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5643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register, login, reset de senha</a:t>
            </a:r>
          </a:p>
        </p:txBody>
      </p:sp>
      <p:sp>
        <p:nvSpPr>
          <p:cNvPr id="29" name="Oval 28"/>
          <p:cNvSpPr/>
          <p:nvPr/>
        </p:nvSpPr>
        <p:spPr>
          <a:xfrm>
            <a:off x="4837176" y="3849624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6632" y="378561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GET /api/profile</a:t>
            </a:r>
          </a:p>
        </p:txBody>
      </p:sp>
      <p:sp>
        <p:nvSpPr>
          <p:cNvPr id="31" name="Oval 30"/>
          <p:cNvSpPr/>
          <p:nvPr/>
        </p:nvSpPr>
        <p:spPr>
          <a:xfrm>
            <a:off x="4837176" y="4178808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6632" y="41148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CRUD de Redação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461772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Os 20 casos já estão descritos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no relatório. Falta escrever 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código e configurar o mock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do banco.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6459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187451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F5F6F7"/>
                </a:solidFill>
                <a:latin typeface="Segoe UI"/>
              </a:rPr>
              <a:t>E2E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1920240"/>
            <a:ext cx="868680" cy="292608"/>
          </a:xfrm>
          <a:prstGeom prst="roundRect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0F12"/>
                </a:solidFill>
                <a:latin typeface="Segoe UI"/>
              </a:rPr>
              <a:t>A FAZER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2304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Playwright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2606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0C878"/>
                </a:solidFill>
                <a:latin typeface="Segoe UI"/>
              </a:rPr>
              <a:t>0 de 10 casos</a:t>
            </a:r>
          </a:p>
        </p:txBody>
      </p:sp>
      <p:sp>
        <p:nvSpPr>
          <p:cNvPr id="39" name="Oval 38"/>
          <p:cNvSpPr/>
          <p:nvPr/>
        </p:nvSpPr>
        <p:spPr>
          <a:xfrm>
            <a:off x="8540496" y="3191256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31272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Instalar e configurar</a:t>
            </a:r>
          </a:p>
        </p:txBody>
      </p:sp>
      <p:sp>
        <p:nvSpPr>
          <p:cNvPr id="41" name="Oval 40"/>
          <p:cNvSpPr/>
          <p:nvPr/>
        </p:nvSpPr>
        <p:spPr>
          <a:xfrm>
            <a:off x="8540496" y="3520440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2" y="345643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Banco de teste com seed</a:t>
            </a:r>
          </a:p>
        </p:txBody>
      </p:sp>
      <p:sp>
        <p:nvSpPr>
          <p:cNvPr id="43" name="Oval 42"/>
          <p:cNvSpPr/>
          <p:nvPr/>
        </p:nvSpPr>
        <p:spPr>
          <a:xfrm>
            <a:off x="8540496" y="3849624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9952" y="378561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Cadastro, login e acesso</a:t>
            </a:r>
          </a:p>
        </p:txBody>
      </p:sp>
      <p:sp>
        <p:nvSpPr>
          <p:cNvPr id="45" name="Oval 44"/>
          <p:cNvSpPr/>
          <p:nvPr/>
        </p:nvSpPr>
        <p:spPr>
          <a:xfrm>
            <a:off x="8540496" y="4178808"/>
            <a:ext cx="82296" cy="82296"/>
          </a:xfrm>
          <a:prstGeom prst="ellipse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59952" y="41148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F5F6F7"/>
                </a:solidFill>
                <a:latin typeface="Segoe UI"/>
              </a:rPr>
              <a:t>CRUD pela interface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2208" y="461772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O Playwright já foi usado para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gerar os prints deste trabalho,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mas ainda não como suíte de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teste automatizada.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5F6F7"/>
                </a:solidFill>
                <a:latin typeface="Segoe UI"/>
              </a:rPr>
              <a:t>78 testes automatizados no total: 66 no Vitest e 12 no Playwright.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Entregas pedidas no 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Onde cada item está e o que ainda falta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647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Documento de 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7739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Apresentado neste slide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755648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21992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408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31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Histórias com critérios e BDD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350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Uma história completa; as demais em elaboração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331720"/>
            <a:ext cx="960120" cy="274320"/>
          </a:xfrm>
          <a:prstGeom prst="roundRect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PARCIAL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98064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169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9077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Plano de teste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Objetivo, escopo, ferramentas, estratégia e papéis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2907792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374136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930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4838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Casos de teste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5021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51 casos com ID, passos, entrada, saída e critério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3483864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50208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069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0599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Implementação nos frameworks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0782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Vitest para unitário e API, Playwright para E2E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059936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526280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45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6360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Execução e evidências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654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78 testes rodando, cobertura e dois defeitos achados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4636008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102352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212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212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Relatório 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Documento entregue com introdução, plano e casos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5212080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678424"/>
            <a:ext cx="10561320" cy="493776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7972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9AA0A6"/>
                </a:solidFill>
                <a:latin typeface="Segoe UI"/>
              </a:rPr>
              <a:t>4.5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81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5F6F7"/>
                </a:solidFill>
                <a:latin typeface="Segoe UI"/>
              </a:rPr>
              <a:t>Link do repositório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github.com/LucasF89k/enem-hub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5788152"/>
            <a:ext cx="960120" cy="274320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0F12"/>
                </a:solidFill>
                <a:latin typeface="Segoe UI"/>
              </a:rPr>
              <a:t>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Falta completar as demais histórias de usuário em BDD.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Conclusão e lições aprendidas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39112"/>
            <a:ext cx="310896" cy="3108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0F12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Testar valor de fronteira vale mais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Os erros aparecem na virada, não no meio da faixa. Testar 499 e 500 acha o que testar 250 nunca acharia.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039112"/>
            <a:ext cx="310896" cy="3108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0F12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574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Escopo bem definido protege o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Dizer o que NÃO seria testado, como as integrações de IA, evitou perder tempo com teste instável que falha por motivo alheio ao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142232"/>
            <a:ext cx="310896" cy="3108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0F12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Mock separa o que se quer testar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Trocar o banco por mock deixou a gente testar "e-mail já existe" e "token expirado" sempre do mesmo jeito, sem depender de dado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862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142232"/>
            <a:ext cx="310896" cy="310896"/>
          </a:xfrm>
          <a:prstGeom prst="ellipse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0F12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5F6F7"/>
                </a:solidFill>
                <a:latin typeface="Segoe UI"/>
              </a:rPr>
              <a:t>Ambiente limpo revela bug escondido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O defeito do build só apareceu fora da máquina de quem programou. Rodar em ambiente limpo é parte de testar.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5F6F7"/>
                </a:solidFill>
                <a:latin typeface="Segoe UI"/>
              </a:rPr>
              <a:t>Situação atual e próximos passos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984248"/>
            <a:ext cx="914400" cy="310896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0F12"/>
                </a:solidFill>
                <a:latin typeface="Segoe UI"/>
              </a:rPr>
              <a:t>Feito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0025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029968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Login, CRUD, API e banco em produção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24328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825496"/>
            <a:ext cx="914400" cy="310896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0F12"/>
                </a:solidFill>
                <a:latin typeface="Segoe UI"/>
              </a:rPr>
              <a:t>Feito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84378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Plano de 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7121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Escopo, ferramentas, estratégia e papéis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65576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666744"/>
            <a:ext cx="914400" cy="310896"/>
          </a:xfrm>
          <a:prstGeom prst="round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0F12"/>
                </a:solidFill>
                <a:latin typeface="Segoe UI"/>
              </a:rPr>
              <a:t>Feito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850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51 casos descritos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712464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21 unitários, 20 de API e 10 E2E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06824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507992"/>
            <a:ext cx="914400" cy="310896"/>
          </a:xfrm>
          <a:prstGeom prst="roundRect">
            <a:avLst/>
          </a:prstGeom>
          <a:solidFill>
            <a:srgbClr val="F0C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D0F12"/>
                </a:solidFill>
                <a:latin typeface="Segoe UI"/>
              </a:rPr>
              <a:t>Parcial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526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Implementação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553712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34 testes unitários rodando; falta API e E2E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48072"/>
            <a:ext cx="10561320" cy="713232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5349240"/>
            <a:ext cx="914400" cy="310896"/>
          </a:xfrm>
          <a:prstGeom prst="roundRect">
            <a:avLst/>
          </a:prstGeom>
          <a:solidFill>
            <a:srgbClr val="2A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9AA0A6"/>
                </a:solidFill>
                <a:latin typeface="Segoe UI"/>
              </a:rPr>
              <a:t>A fazer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3675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6F7"/>
                </a:solidFill>
                <a:latin typeface="Segoe UI"/>
              </a:rPr>
              <a:t>Evidências completas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3949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Rodar a suíte inteira e registrar tudo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6035040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161A1F"/>
          </a:solidFill>
          <a:ln w="9525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61996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AA0A6"/>
                </a:solidFill>
                <a:latin typeface="Segoe UI"/>
              </a:rPr>
              <a:t>Critério de saída: todos os casos executados · todos os de prioridade alta aprovados · cobertura mínima de 80% nas funções críticas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914400"/>
            <a:ext cx="5943600" cy="5943600"/>
          </a:xfrm>
          <a:prstGeom prst="ellipse">
            <a:avLst/>
          </a:prstGeom>
          <a:solidFill>
            <a:srgbClr val="11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6F7"/>
                </a:solidFill>
                <a:latin typeface="Segoe UI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108960"/>
            <a:ext cx="2377440" cy="27432"/>
          </a:xfrm>
          <a:prstGeom prst="rect">
            <a:avLst/>
          </a:prstGeom>
          <a:solidFill>
            <a:srgbClr val="5C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CE1B0"/>
                </a:solidFill>
                <a:latin typeface="Segoe UI"/>
              </a:rPr>
              <a:t>ACESSE 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F5F6F7"/>
                </a:solidFill>
                <a:latin typeface="Segoe UI"/>
              </a:rPr>
              <a:t>enem-hub.vercel.app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Grupo Trab_Final_3  ·  Teste de Software</a:t>
            </a:r>
          </a:p>
        </p:txBody>
      </p:sp>
      <p:pic>
        <p:nvPicPr>
          <p:cNvPr id="9" name="Picture 8" descr="q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65960"/>
            <a:ext cx="237744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4498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Aponte a câmera</a:t>
            </a:r>
          </a:p>
        </p:txBody>
      </p:sp>
      <p:pic>
        <p:nvPicPr>
          <p:cNvPr id="11" name="Picture 10" descr="12-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783080"/>
            <a:ext cx="1518854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